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6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0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316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 type="screen4x3"/>
  <p:notesSz cx="6811963" cy="9942513"/>
  <p:embeddedFontLst>
    <p:embeddedFont>
      <p:font typeface="Book Antiqua" panose="02040602050305030304" pitchFamily="18" charset="0"/>
      <p:regular r:id="rId65"/>
      <p:bold r:id="rId66"/>
      <p:italic r:id="rId67"/>
      <p:boldItalic r:id="rId68"/>
    </p:embeddedFont>
    <p:embeddedFont>
      <p:font typeface="Century Schoolbook" panose="02040604050505020304" pitchFamily="18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6" roundtripDataSignature="AMtx7mhsSqm/eMKGcv0PEhg9KLgW7VT/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95A962-1273-4950-9C61-5927FEBD04DF}">
  <a:tblStyle styleId="{0295A962-1273-4950-9C61-5927FEBD04D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0F6FC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0F6FC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0F6FC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0F6FC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font" Target="fonts/font4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2.fntdata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8.fntdata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font" Target="fonts/font1.fntdata"/><Relationship Id="rId7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customschemas.google.com/relationships/presentationmetadata" Target="metadata"/><Relationship Id="rId7" Type="http://schemas.openxmlformats.org/officeDocument/2006/relationships/slide" Target="slides/slide5.xml"/><Relationship Id="rId71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1:notes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30 September 2022</a:t>
            </a:r>
            <a:endParaRPr/>
          </a:p>
        </p:txBody>
      </p:sp>
      <p:sp>
        <p:nvSpPr>
          <p:cNvPr id="137" name="Google Shape;137;p1:notes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1-59</a:t>
            </a:r>
            <a:endParaRPr/>
          </a:p>
        </p:txBody>
      </p:sp>
      <p:sp>
        <p:nvSpPr>
          <p:cNvPr id="138" name="Google Shape;138;p1:notes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4:notes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5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6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7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8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9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0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5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6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7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8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9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0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4b0db2efd5_1_7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00" cy="4474200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4b0db2efd5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700" cy="37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4b0db2efd5_1_206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00" cy="4474200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4b0db2efd5_1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700" cy="37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5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6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7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78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9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0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5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86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7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8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89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90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9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9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9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9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95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96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97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8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99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0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0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0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03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0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1" name="Google Shape;4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4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4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4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4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1"/>
          </p:nvPr>
        </p:nvSpPr>
        <p:spPr>
          <a:xfrm rot="5400000">
            <a:off x="2377282" y="15082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b0db2efd5_1_215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g34b0db2efd5_1_215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4b0db2efd5_1_2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4b0db2efd5_1_21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b0db2efd5_1_22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4b0db2efd5_1_220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g34b0db2efd5_1_2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4b0db2efd5_1_22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b0db2efd5_1_2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34b0db2efd5_1_22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b0db2efd5_1_228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34b0db2efd5_1_228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g34b0db2efd5_1_2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4b0db2efd5_1_22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b0db2efd5_1_23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4b0db2efd5_1_233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g34b0db2efd5_1_233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g34b0db2efd5_1_2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34b0db2efd5_1_23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b0db2efd5_1_23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4b0db2efd5_1_2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4b0db2efd5_1_23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b0db2efd5_1_243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4b0db2efd5_1_243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g34b0db2efd5_1_243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g34b0db2efd5_1_2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4b0db2efd5_1_24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b0db2efd5_1_249"/>
          <p:cNvSpPr/>
          <p:nvPr/>
        </p:nvSpPr>
        <p:spPr>
          <a:xfrm rot="-10379968" flipH="1">
            <a:off x="3165538" y="1108014"/>
            <a:ext cx="5257696" cy="4114887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10" algn="tl" rotWithShape="0">
              <a:srgbClr val="000000">
                <a:alpha val="243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4b0db2efd5_1_249"/>
          <p:cNvSpPr/>
          <p:nvPr/>
        </p:nvSpPr>
        <p:spPr>
          <a:xfrm rot="-10381539" flipH="1">
            <a:off x="8004149" y="5359289"/>
            <a:ext cx="155652" cy="155652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4b0db2efd5_1_249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4b0db2efd5_1_249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4b0db2efd5_1_249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4b0db2efd5_1_249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g34b0db2efd5_1_249"/>
          <p:cNvSpPr>
            <a:spLocks noGrp="1"/>
          </p:cNvSpPr>
          <p:nvPr>
            <p:ph type="pic" idx="2"/>
          </p:nvPr>
        </p:nvSpPr>
        <p:spPr>
          <a:xfrm rot="420022">
            <a:off x="3485831" y="1199543"/>
            <a:ext cx="4617824" cy="3931997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34b0db2efd5_1_2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34b0db2efd5_1_24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b0db2efd5_1_259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4b0db2efd5_1_259"/>
          <p:cNvSpPr txBox="1">
            <a:spLocks noGrp="1"/>
          </p:cNvSpPr>
          <p:nvPr>
            <p:ph type="body" idx="1"/>
          </p:nvPr>
        </p:nvSpPr>
        <p:spPr>
          <a:xfrm rot="5400000">
            <a:off x="2377351" y="15013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g34b0db2efd5_1_2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4b0db2efd5_1_25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b0db2efd5_1_264"/>
          <p:cNvSpPr txBox="1">
            <a:spLocks noGrp="1"/>
          </p:cNvSpPr>
          <p:nvPr>
            <p:ph type="title"/>
          </p:nvPr>
        </p:nvSpPr>
        <p:spPr>
          <a:xfrm rot="5400000">
            <a:off x="5052151" y="2491650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4b0db2efd5_1_264"/>
          <p:cNvSpPr txBox="1">
            <a:spLocks noGrp="1"/>
          </p:cNvSpPr>
          <p:nvPr>
            <p:ph type="body" idx="1"/>
          </p:nvPr>
        </p:nvSpPr>
        <p:spPr>
          <a:xfrm rot="5400000">
            <a:off x="861150" y="510450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g34b0db2efd5_1_2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34b0db2efd5_1_26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b0db2efd5_1_269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34b0db2efd5_1_2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4b0db2efd5_1_26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4b0db2efd5_1_21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g34b0db2efd5_1_21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g34b0db2efd5_1_2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>
            <a:spLocks noGrp="1"/>
          </p:cNvSpPr>
          <p:nvPr>
            <p:ph type="subTitle" idx="1"/>
          </p:nvPr>
        </p:nvSpPr>
        <p:spPr>
          <a:xfrm>
            <a:off x="189781" y="3228536"/>
            <a:ext cx="8268419" cy="195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4572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45720" lvl="0" indent="0" algn="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/>
          </a:p>
        </p:txBody>
      </p:sp>
      <p:sp>
        <p:nvSpPr>
          <p:cNvPr id="141" name="Google Shape;141;p1"/>
          <p:cNvSpPr txBox="1"/>
          <p:nvPr/>
        </p:nvSpPr>
        <p:spPr>
          <a:xfrm>
            <a:off x="2987824" y="-2416"/>
            <a:ext cx="6108091" cy="160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 ENGINEERING COLLEGE</a:t>
            </a:r>
            <a:r>
              <a:rPr lang="en-US" sz="1800" b="1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5463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 ERODE-638060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CT-PG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2467323" y="1377665"/>
            <a:ext cx="676811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PHOTOGRAPHY EVENT MANAGEMENT SYSTEM</a:t>
            </a:r>
            <a:endParaRPr sz="28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2987824" y="2277749"/>
            <a:ext cx="61653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Nandhini V (22ISR029)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Balachandran K K (22ISR005)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Lalithambigai S (22ISR021)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Guide 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	Dr.T.Maragatham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	Associate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	Department of CT-PG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Consultant: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Snappy Boys Photography</a:t>
            </a:r>
            <a:endParaRPr sz="1800" b="1" i="0" u="none" strike="noStrike" cap="none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9817"/>
            <a:ext cx="1301154" cy="911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" descr="G:\TBI\TBI@KEC Logos\K Transform\6-5x4 product centr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0259" y="841265"/>
            <a:ext cx="1713898" cy="1490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22663" y="2413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3600"/>
          </a:p>
        </p:txBody>
      </p:sp>
      <p:sp>
        <p:nvSpPr>
          <p:cNvPr id="151" name="Google Shape;151;p3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fld>
            <a:endParaRPr sz="1800" b="0" i="0" u="none" strike="noStrike" cap="none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52" name="Google Shape;152;p3"/>
          <p:cNvSpPr txBox="1">
            <a:spLocks noGrp="1"/>
          </p:cNvSpPr>
          <p:nvPr>
            <p:ph type="body" idx="1"/>
          </p:nvPr>
        </p:nvSpPr>
        <p:spPr>
          <a:xfrm>
            <a:off x="622662" y="1056186"/>
            <a:ext cx="8341826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1714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2413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To streamline photography event management for both users and administrators.</a:t>
            </a:r>
            <a:endParaRPr dirty="0"/>
          </a:p>
          <a:p>
            <a:pPr marL="4445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To provide a user-friendly platform for booking, customizing packages, and ordering prints/merchandise.</a:t>
            </a:r>
            <a:endParaRPr dirty="0"/>
          </a:p>
          <a:p>
            <a:pPr marL="444500" lvl="0" indent="-34290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To enable camera renting and photo contest submissions.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lvl="0" indent="-1714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lvl="0" indent="-1714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lvl="0" indent="-17145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54" name="Google Shape;154;p3" descr="kec2blackborder 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2612"/>
            <a:ext cx="508210" cy="63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>
            <a:spLocks noGrp="1"/>
          </p:cNvSpPr>
          <p:nvPr>
            <p:ph type="title"/>
          </p:nvPr>
        </p:nvSpPr>
        <p:spPr>
          <a:xfrm>
            <a:off x="611560" y="51945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Existing System</a:t>
            </a:r>
            <a:endParaRPr sz="4000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321170" cy="15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fld>
            <a:endParaRPr sz="1800" b="0" i="0" u="none" strike="noStrike" cap="none" dirty="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2" name="Google Shape;162;p4"/>
          <p:cNvSpPr txBox="1">
            <a:spLocks noGrp="1"/>
          </p:cNvSpPr>
          <p:nvPr>
            <p:ph type="body" idx="1"/>
          </p:nvPr>
        </p:nvSpPr>
        <p:spPr>
          <a:xfrm>
            <a:off x="707366" y="1402396"/>
            <a:ext cx="8408432" cy="5280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1" indent="-16637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Noto Sans Symbols"/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4320" lvl="0" indent="-17272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Manual booking processes prone to errors.</a:t>
            </a:r>
            <a:endParaRPr dirty="0"/>
          </a:p>
          <a:p>
            <a:pPr marL="444500" lvl="0" indent="-3429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Limited or no customization options for photography packages.</a:t>
            </a:r>
            <a:endParaRPr dirty="0"/>
          </a:p>
          <a:p>
            <a:pPr marL="444500" lvl="0" indent="-3429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Lack of streamlined workflows for managing events, orders, or contests. </a:t>
            </a:r>
            <a:endParaRPr dirty="0"/>
          </a:p>
          <a:p>
            <a:pPr marL="444500" lvl="0" indent="-3429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Inefficient management of camera rentals and merchandise orders.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lvl="0" indent="-17145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IN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4320" lvl="0" indent="-17272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22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DISADVANTAGES:</a:t>
            </a:r>
          </a:p>
          <a:p>
            <a:pPr marL="274320" lvl="0" indent="-172720" algn="just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lang="en-US" sz="2200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indent="-342900" algn="just">
              <a:lnSpc>
                <a:spcPct val="90000"/>
              </a:lnSpc>
              <a:spcBef>
                <a:spcPts val="400"/>
              </a:spcBef>
              <a:buSzPts val="16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Risk of Human Error</a:t>
            </a:r>
          </a:p>
          <a:p>
            <a:pPr marL="101600" indent="0" algn="just">
              <a:lnSpc>
                <a:spcPct val="90000"/>
              </a:lnSpc>
              <a:spcBef>
                <a:spcPts val="400"/>
              </a:spcBef>
              <a:buSzPts val="1600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342900" algn="just">
              <a:lnSpc>
                <a:spcPct val="90000"/>
              </a:lnSpc>
              <a:spcBef>
                <a:spcPts val="400"/>
              </a:spcBef>
              <a:buSzPts val="16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Disorganized Operations</a:t>
            </a:r>
          </a:p>
          <a:p>
            <a:pPr marL="101600" indent="0" algn="just">
              <a:lnSpc>
                <a:spcPct val="90000"/>
              </a:lnSpc>
              <a:spcBef>
                <a:spcPts val="400"/>
              </a:spcBef>
              <a:buSzPts val="1600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342900" algn="just">
              <a:lnSpc>
                <a:spcPct val="90000"/>
              </a:lnSpc>
              <a:spcBef>
                <a:spcPts val="400"/>
              </a:spcBef>
              <a:buSzPts val="16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Mismanagement</a:t>
            </a:r>
            <a:endParaRPr sz="1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64" name="Google Shape;164;p4" descr="kec2blackborder 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2612"/>
            <a:ext cx="508210" cy="63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2"/>
          <p:cNvSpPr txBox="1">
            <a:spLocks noGrp="1"/>
          </p:cNvSpPr>
          <p:nvPr>
            <p:ph type="title"/>
          </p:nvPr>
        </p:nvSpPr>
        <p:spPr>
          <a:xfrm>
            <a:off x="457200" y="98324"/>
            <a:ext cx="8229600" cy="83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dirty="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Proposed System</a:t>
            </a:r>
            <a:endParaRPr dirty="0"/>
          </a:p>
        </p:txBody>
      </p:sp>
      <p:sp>
        <p:nvSpPr>
          <p:cNvPr id="170" name="Google Shape;170;p52"/>
          <p:cNvSpPr txBox="1">
            <a:spLocks noGrp="1"/>
          </p:cNvSpPr>
          <p:nvPr>
            <p:ph type="body" idx="1"/>
          </p:nvPr>
        </p:nvSpPr>
        <p:spPr>
          <a:xfrm>
            <a:off x="634176" y="855406"/>
            <a:ext cx="8229600" cy="574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04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 web-based platform with separate User and Admin panels.</a:t>
            </a:r>
            <a:endParaRPr dirty="0"/>
          </a:p>
          <a:p>
            <a:pPr marL="457200" lvl="0" indent="-32004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Intuitive modules for portfolio galleries, testimonials, and service booking.</a:t>
            </a:r>
            <a:endParaRPr dirty="0"/>
          </a:p>
          <a:p>
            <a:pPr marL="457200" lvl="0" indent="-32004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Streamlined workflows for administrators to manage bookings, contests, and orders.</a:t>
            </a:r>
            <a:endParaRPr dirty="0"/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Integrated options for renting cameras and ordering prints/merchandise.</a:t>
            </a:r>
            <a:r>
              <a:rPr lang="en-US" sz="20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Experience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 and Flexibility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Event Coordination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Equipment Utilization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004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1440"/>
              <a:buChar char="⮚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>
            <a:spLocks noGrp="1"/>
          </p:cNvSpPr>
          <p:nvPr>
            <p:ph type="title"/>
          </p:nvPr>
        </p:nvSpPr>
        <p:spPr>
          <a:xfrm>
            <a:off x="828136" y="448575"/>
            <a:ext cx="7858664" cy="87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/>
              <a:t>  </a:t>
            </a:r>
            <a:r>
              <a:rPr lang="en-US" sz="36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sz="3600">
              <a:solidFill>
                <a:srgbClr val="2F2F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body" idx="1"/>
          </p:nvPr>
        </p:nvSpPr>
        <p:spPr>
          <a:xfrm>
            <a:off x="457200" y="1689356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     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modules used in our project are</a:t>
            </a:r>
            <a:endParaRPr dirty="0"/>
          </a:p>
          <a:p>
            <a:pPr marL="2730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dirty="0"/>
          </a:p>
          <a:p>
            <a:pPr marL="101600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User Management </a:t>
            </a:r>
            <a:endParaRPr dirty="0"/>
          </a:p>
          <a:p>
            <a:pPr marL="101600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Admin Management </a:t>
            </a:r>
            <a:endParaRPr dirty="0"/>
          </a:p>
          <a:p>
            <a:pPr marL="101600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Custom Package Management </a:t>
            </a:r>
            <a:endParaRPr dirty="0"/>
          </a:p>
          <a:p>
            <a:pPr marL="101600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Event Scheduler Management</a:t>
            </a:r>
            <a:endParaRPr dirty="0"/>
          </a:p>
          <a:p>
            <a:pPr marL="1016000" lvl="1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⮚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Equipment Rental Management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3"/>
          <p:cNvSpPr txBox="1"/>
          <p:nvPr/>
        </p:nvSpPr>
        <p:spPr>
          <a:xfrm>
            <a:off x="1015977" y="1092345"/>
            <a:ext cx="7112045" cy="511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1)User Management: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7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user registration, login, and profile management.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 notifications and user details for seamless interaction.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Modules:</a:t>
            </a:r>
            <a:endParaRPr/>
          </a:p>
          <a:p>
            <a:pPr marL="342900" marR="0" lvl="5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Registration and Login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Profile Management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Notification Management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53"/>
          <p:cNvSpPr txBox="1">
            <a:spLocks noGrp="1"/>
          </p:cNvSpPr>
          <p:nvPr>
            <p:ph type="title"/>
          </p:nvPr>
        </p:nvSpPr>
        <p:spPr>
          <a:xfrm>
            <a:off x="1084168" y="0"/>
            <a:ext cx="7858664" cy="87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</a:t>
            </a:r>
            <a:r>
              <a:rPr lang="en-US" sz="36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Description</a:t>
            </a:r>
            <a:endParaRPr sz="3600">
              <a:solidFill>
                <a:srgbClr val="2F2F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4"/>
          <p:cNvSpPr txBox="1"/>
          <p:nvPr/>
        </p:nvSpPr>
        <p:spPr>
          <a:xfrm>
            <a:off x="1088058" y="758047"/>
            <a:ext cx="8183761" cy="557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Admin Management:</a:t>
            </a:r>
            <a:endParaRPr/>
          </a:p>
          <a:p>
            <a:pPr marL="342900" marR="0" lvl="7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authentication and user account management.</a:t>
            </a:r>
            <a:endParaRPr/>
          </a:p>
          <a:p>
            <a:pPr marL="342900" marR="0" lvl="7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oversees booking, testimonials, and contest approvals.</a:t>
            </a:r>
            <a:endParaRPr/>
          </a:p>
          <a:p>
            <a:pPr marL="342900" marR="0" lvl="7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make bookings, submit testimonials, and participate in contests.</a:t>
            </a:r>
            <a:endParaRPr/>
          </a:p>
          <a:p>
            <a:pPr marL="342900" marR="0" lvl="7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ensures system integrity by monitoring user activities.</a:t>
            </a:r>
            <a:endParaRPr/>
          </a:p>
          <a:p>
            <a:pPr marL="0" marR="0" lvl="7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Modules: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Management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Booking Approval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Booking Management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Testimonial Approval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Contest Management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5"/>
          <p:cNvSpPr txBox="1"/>
          <p:nvPr/>
        </p:nvSpPr>
        <p:spPr>
          <a:xfrm>
            <a:off x="1088058" y="738383"/>
            <a:ext cx="8183761" cy="511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Custom Package Management :</a:t>
            </a:r>
            <a:endParaRPr/>
          </a:p>
          <a:p>
            <a:pPr marL="342900" marR="0" lvl="7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either create their own custom package or choose from ready-made package templates.</a:t>
            </a:r>
            <a:endParaRPr/>
          </a:p>
          <a:p>
            <a:pPr marL="342900" marR="0" lvl="7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selecting or creating a package, users can review all the package details before finalizing.</a:t>
            </a:r>
            <a:endParaRPr/>
          </a:p>
          <a:p>
            <a:pPr marL="0" marR="0" lvl="7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Modules: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Builder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Predefined Package Templates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Add-On Services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Summary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6"/>
          <p:cNvSpPr txBox="1"/>
          <p:nvPr/>
        </p:nvSpPr>
        <p:spPr>
          <a:xfrm>
            <a:off x="1088058" y="590899"/>
            <a:ext cx="8183761" cy="6038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Event Scheduler Management:</a:t>
            </a:r>
            <a:endParaRPr/>
          </a:p>
          <a:p>
            <a:pPr marL="342900" marR="0" lvl="7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either create their own custom package or choose from Users can view available slots through a calendar interface, manage their bookings, and avoid double booking conflicts.</a:t>
            </a:r>
            <a:endParaRPr/>
          </a:p>
          <a:p>
            <a:pPr marL="342900" marR="0" lvl="7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confirm bookings, and if needed, reschedule or cancel them, with all event details accessible throughout the process.</a:t>
            </a:r>
            <a:endParaRPr/>
          </a:p>
          <a:p>
            <a:pPr marL="0" marR="0" lvl="7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Modules: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Calendar Interface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Slot Management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Double-Booking Prevention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Booking Confirmation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Rescheduling &amp; Cancellation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7"/>
          <p:cNvSpPr txBox="1"/>
          <p:nvPr/>
        </p:nvSpPr>
        <p:spPr>
          <a:xfrm>
            <a:off x="1088058" y="590899"/>
            <a:ext cx="8183761" cy="5115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 Equipment Rental Management </a:t>
            </a:r>
            <a:endParaRPr/>
          </a:p>
          <a:p>
            <a:pPr marL="342900" marR="0" lvl="7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browse equipment listings, check availability, and book rentals based on product details.</a:t>
            </a:r>
            <a:endParaRPr/>
          </a:p>
          <a:p>
            <a:pPr marL="342900" marR="0" lvl="7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booking, users can manage their rentals, including tracking, modifying, or canceling, with access to product details.</a:t>
            </a:r>
            <a:endParaRPr/>
          </a:p>
          <a:p>
            <a:pPr marL="0" marR="0" lvl="7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Modules: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Equipment Listing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Availability Check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Rental Booking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Management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 </a:t>
            </a:r>
            <a:r>
              <a:rPr lang="en-US" sz="36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Used</a:t>
            </a:r>
            <a:endParaRPr/>
          </a:p>
        </p:txBody>
      </p:sp>
      <p:sp>
        <p:nvSpPr>
          <p:cNvPr id="292" name="Google Shape;292;p72"/>
          <p:cNvSpPr txBox="1">
            <a:spLocks noGrp="1"/>
          </p:cNvSpPr>
          <p:nvPr>
            <p:ph type="body" idx="1"/>
          </p:nvPr>
        </p:nvSpPr>
        <p:spPr>
          <a:xfrm>
            <a:off x="1676400" y="2239964"/>
            <a:ext cx="7300452" cy="2656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Frontend: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HTML, CSS, JavaScript, Bootstrap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Backend: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PHP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Database: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MySQL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Server: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Apache (XAMPP)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8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 </a:t>
            </a: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 diagram for level 0</a:t>
            </a:r>
            <a:r>
              <a:rPr lang="en-US" sz="3200">
                <a:solidFill>
                  <a:srgbClr val="2F2FF1"/>
                </a:solidFill>
              </a:rPr>
              <a:t> </a:t>
            </a:r>
            <a:endParaRPr/>
          </a:p>
        </p:txBody>
      </p:sp>
      <p:pic>
        <p:nvPicPr>
          <p:cNvPr id="208" name="Google Shape;208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2581276"/>
            <a:ext cx="8077552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9"/>
          <p:cNvSpPr txBox="1">
            <a:spLocks noGrp="1"/>
          </p:cNvSpPr>
          <p:nvPr>
            <p:ph type="title"/>
          </p:nvPr>
        </p:nvSpPr>
        <p:spPr>
          <a:xfrm>
            <a:off x="2737874" y="-6688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 diagram for level 1</a:t>
            </a:r>
            <a:endParaRPr/>
          </a:p>
        </p:txBody>
      </p:sp>
      <p:pic>
        <p:nvPicPr>
          <p:cNvPr id="214" name="Google Shape;214;p59" descr="Level_1.drawi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490" y="661353"/>
            <a:ext cx="7907020" cy="5535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0"/>
          <p:cNvSpPr txBox="1">
            <a:spLocks noGrp="1"/>
          </p:cNvSpPr>
          <p:nvPr>
            <p:ph type="title"/>
          </p:nvPr>
        </p:nvSpPr>
        <p:spPr>
          <a:xfrm>
            <a:off x="2060608" y="143920"/>
            <a:ext cx="6119831" cy="449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evel 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User Management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/>
          </a:p>
        </p:txBody>
      </p:sp>
      <p:pic>
        <p:nvPicPr>
          <p:cNvPr id="220" name="Google Shape;220;p60"/>
          <p:cNvPicPr preferRelativeResize="0"/>
          <p:nvPr/>
        </p:nvPicPr>
        <p:blipFill rotWithShape="1">
          <a:blip r:embed="rId3">
            <a:alphaModFix/>
          </a:blip>
          <a:srcRect r="3422"/>
          <a:stretch/>
        </p:blipFill>
        <p:spPr>
          <a:xfrm>
            <a:off x="600844" y="909024"/>
            <a:ext cx="8208859" cy="5580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1"/>
          <p:cNvSpPr txBox="1">
            <a:spLocks noGrp="1"/>
          </p:cNvSpPr>
          <p:nvPr>
            <p:ph type="title"/>
          </p:nvPr>
        </p:nvSpPr>
        <p:spPr>
          <a:xfrm>
            <a:off x="2060608" y="143920"/>
            <a:ext cx="6316476" cy="449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evel 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2(Admin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Management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/>
          </a:p>
        </p:txBody>
      </p:sp>
      <p:pic>
        <p:nvPicPr>
          <p:cNvPr id="226" name="Google Shape;226;p61"/>
          <p:cNvPicPr preferRelativeResize="0"/>
          <p:nvPr/>
        </p:nvPicPr>
        <p:blipFill rotWithShape="1">
          <a:blip r:embed="rId3">
            <a:alphaModFix/>
          </a:blip>
          <a:srcRect r="3332"/>
          <a:stretch/>
        </p:blipFill>
        <p:spPr>
          <a:xfrm>
            <a:off x="855406" y="519728"/>
            <a:ext cx="7934633" cy="6338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2"/>
          <p:cNvSpPr txBox="1">
            <a:spLocks noGrp="1"/>
          </p:cNvSpPr>
          <p:nvPr>
            <p:ph type="title"/>
          </p:nvPr>
        </p:nvSpPr>
        <p:spPr>
          <a:xfrm>
            <a:off x="1700982" y="-168529"/>
            <a:ext cx="7443018" cy="688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evel 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Custom Package Management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pic>
        <p:nvPicPr>
          <p:cNvPr id="232" name="Google Shape;232;p62"/>
          <p:cNvPicPr preferRelativeResize="0"/>
          <p:nvPr/>
        </p:nvPicPr>
        <p:blipFill rotWithShape="1">
          <a:blip r:embed="rId3">
            <a:alphaModFix/>
          </a:blip>
          <a:srcRect r="3121"/>
          <a:stretch/>
        </p:blipFill>
        <p:spPr>
          <a:xfrm>
            <a:off x="605913" y="1002582"/>
            <a:ext cx="8046474" cy="5486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3"/>
          <p:cNvSpPr txBox="1">
            <a:spLocks noGrp="1"/>
          </p:cNvSpPr>
          <p:nvPr>
            <p:ph type="title"/>
          </p:nvPr>
        </p:nvSpPr>
        <p:spPr>
          <a:xfrm>
            <a:off x="1700982" y="-168529"/>
            <a:ext cx="7443018" cy="688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evel 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Event Scheduler Management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pic>
        <p:nvPicPr>
          <p:cNvPr id="238" name="Google Shape;238;p63"/>
          <p:cNvPicPr preferRelativeResize="0"/>
          <p:nvPr/>
        </p:nvPicPr>
        <p:blipFill rotWithShape="1">
          <a:blip r:embed="rId3">
            <a:alphaModFix/>
          </a:blip>
          <a:srcRect r="3295"/>
          <a:stretch/>
        </p:blipFill>
        <p:spPr>
          <a:xfrm>
            <a:off x="953270" y="422752"/>
            <a:ext cx="7817104" cy="6435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4"/>
          <p:cNvSpPr txBox="1">
            <a:spLocks noGrp="1"/>
          </p:cNvSpPr>
          <p:nvPr>
            <p:ph type="title"/>
          </p:nvPr>
        </p:nvSpPr>
        <p:spPr>
          <a:xfrm>
            <a:off x="1484672" y="0"/>
            <a:ext cx="7747818" cy="688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DFD 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2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evel 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Equipment Rental Management</a:t>
            </a: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pic>
        <p:nvPicPr>
          <p:cNvPr id="244" name="Google Shape;244;p64"/>
          <p:cNvPicPr preferRelativeResize="0"/>
          <p:nvPr/>
        </p:nvPicPr>
        <p:blipFill rotWithShape="1">
          <a:blip r:embed="rId3">
            <a:alphaModFix/>
          </a:blip>
          <a:srcRect r="2755"/>
          <a:stretch/>
        </p:blipFill>
        <p:spPr>
          <a:xfrm>
            <a:off x="655869" y="668594"/>
            <a:ext cx="8328572" cy="6037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5"/>
          <p:cNvSpPr txBox="1">
            <a:spLocks noGrp="1"/>
          </p:cNvSpPr>
          <p:nvPr>
            <p:ph type="title"/>
          </p:nvPr>
        </p:nvSpPr>
        <p:spPr>
          <a:xfrm>
            <a:off x="671761" y="1315521"/>
            <a:ext cx="8316791" cy="1085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Tables</a:t>
            </a:r>
            <a:endParaRPr sz="3600">
              <a:solidFill>
                <a:srgbClr val="2F2F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65"/>
          <p:cNvSpPr txBox="1"/>
          <p:nvPr/>
        </p:nvSpPr>
        <p:spPr>
          <a:xfrm>
            <a:off x="1635103" y="2609625"/>
            <a:ext cx="8316900" cy="25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Details</a:t>
            </a:r>
            <a:endParaRPr/>
          </a:p>
          <a:p>
            <a: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Details</a:t>
            </a:r>
            <a:endParaRPr/>
          </a:p>
          <a:p>
            <a: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Details</a:t>
            </a:r>
            <a:endParaRPr/>
          </a:p>
          <a:p>
            <a: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Details</a:t>
            </a:r>
            <a:endParaRPr/>
          </a:p>
          <a:p>
            <a: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Booking Details</a:t>
            </a:r>
            <a:endParaRPr/>
          </a:p>
          <a:p>
            <a: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Booking Details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6"/>
          <p:cNvSpPr txBox="1">
            <a:spLocks noGrp="1"/>
          </p:cNvSpPr>
          <p:nvPr>
            <p:ph type="title"/>
          </p:nvPr>
        </p:nvSpPr>
        <p:spPr>
          <a:xfrm>
            <a:off x="819675" y="4148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USER TABLE </a:t>
            </a:r>
            <a:endParaRPr sz="4000"/>
          </a:p>
        </p:txBody>
      </p:sp>
      <p:graphicFrame>
        <p:nvGraphicFramePr>
          <p:cNvPr id="256" name="Google Shape;256;p66"/>
          <p:cNvGraphicFramePr/>
          <p:nvPr/>
        </p:nvGraphicFramePr>
        <p:xfrm>
          <a:off x="1741475" y="1974568"/>
          <a:ext cx="6096000" cy="3708500"/>
        </p:xfrm>
        <a:graphic>
          <a:graphicData uri="http://schemas.openxmlformats.org/drawingml/2006/table">
            <a:tbl>
              <a:tblPr firstRow="1" bandRow="1">
                <a:noFill/>
                <a:tableStyleId>{0295A962-1273-4950-9C61-5927FEBD04DF}</a:tableStyleId>
              </a:tblPr>
              <a:tblGrid>
                <a:gridCol w="181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FIELD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 TYPE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SIZE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CONSTRAINTS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user_id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INTEGER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PRIMARY KEY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full_name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r>
                        <a:rPr lang="en-US" sz="1400" u="none" strike="noStrike" cap="none"/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email_id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password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contact_no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NUMBER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dob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address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city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country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7"/>
          <p:cNvSpPr txBox="1">
            <a:spLocks noGrp="1"/>
          </p:cNvSpPr>
          <p:nvPr>
            <p:ph type="title"/>
          </p:nvPr>
        </p:nvSpPr>
        <p:spPr>
          <a:xfrm>
            <a:off x="6441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ADMIN TABLE </a:t>
            </a:r>
            <a:endParaRPr sz="4000"/>
          </a:p>
        </p:txBody>
      </p:sp>
      <p:graphicFrame>
        <p:nvGraphicFramePr>
          <p:cNvPr id="262" name="Google Shape;262;p67"/>
          <p:cNvGraphicFramePr/>
          <p:nvPr/>
        </p:nvGraphicFramePr>
        <p:xfrm>
          <a:off x="1523507" y="249756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{0295A962-1273-4950-9C61-5927FEBD04DF}</a:tableStyleId>
              </a:tblPr>
              <a:tblGrid>
                <a:gridCol w="161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5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FIELD NAME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 TYPE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SIZE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CONSTRAINTS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admin_id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INTEGER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PRIMARY KEY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admin_name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password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8"/>
          <p:cNvSpPr txBox="1">
            <a:spLocks noGrp="1"/>
          </p:cNvSpPr>
          <p:nvPr>
            <p:ph type="title"/>
          </p:nvPr>
        </p:nvSpPr>
        <p:spPr>
          <a:xfrm>
            <a:off x="218450" y="559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EVENT TABLE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8" name="Google Shape;268;p68"/>
          <p:cNvGraphicFramePr/>
          <p:nvPr/>
        </p:nvGraphicFramePr>
        <p:xfrm>
          <a:off x="1348681" y="240885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{0295A962-1273-4950-9C61-5927FEBD04DF}</a:tableStyleId>
              </a:tblPr>
              <a:tblGrid>
                <a:gridCol w="184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FIELD 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 TYPE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SIZE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CONSTRAINTS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event_id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INTEGER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PRIMARY KEY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event_name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VARCHAR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base_price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DECIMAL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(10,2)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9"/>
          <p:cNvSpPr txBox="1">
            <a:spLocks noGrp="1"/>
          </p:cNvSpPr>
          <p:nvPr>
            <p:ph type="title"/>
          </p:nvPr>
        </p:nvSpPr>
        <p:spPr>
          <a:xfrm>
            <a:off x="914395" y="-4733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PRODUCT TABLE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4" name="Google Shape;274;p69"/>
          <p:cNvGraphicFramePr/>
          <p:nvPr/>
        </p:nvGraphicFramePr>
        <p:xfrm>
          <a:off x="1239058" y="76828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{0295A962-1273-4950-9C61-5927FEBD04DF}</a:tableStyleId>
              </a:tblPr>
              <a:tblGrid>
                <a:gridCol w="178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FIELD 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 TYPE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SIZE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CONSTRAINTS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product_id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INTEGER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PRIMARY KEY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camera_model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VARCHAR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camera_brand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camera_overview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250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price_per_day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INTEGER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NOT NULL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lens_type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model_year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resolution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INTEGER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c_image1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BLOB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c_image2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BLOB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c_image3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BLOB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c_image4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BLOB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c_image5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BLOB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accessories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PRODUCT BOOKING TABLE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0" name="Google Shape;280;p70"/>
          <p:cNvGraphicFramePr/>
          <p:nvPr/>
        </p:nvGraphicFramePr>
        <p:xfrm>
          <a:off x="1319706" y="211887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{0295A962-1273-4950-9C61-5927FEBD04DF}</a:tableStyleId>
              </a:tblPr>
              <a:tblGrid>
                <a:gridCol w="184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FIELD 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 TYPE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SIZE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CONSTRAINTS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product_booking_id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INTEGER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</a:t>
                      </a:r>
                      <a:r>
                        <a:rPr lang="en-US"/>
                        <a:t>RIMARY KEY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user_id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INTEGER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r>
                        <a:rPr lang="en-US"/>
                        <a:t>OREIGN KEY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product_id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INTEGER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</a:t>
                      </a:r>
                      <a:r>
                        <a:rPr lang="en-US"/>
                        <a:t>OREIGN KEY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booking_number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INTEGER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</a:t>
                      </a:r>
                      <a:r>
                        <a:rPr lang="en-US"/>
                        <a:t>OT NULL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email_id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FOREIGN KEY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from_date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N</a:t>
                      </a:r>
                      <a:r>
                        <a:rPr lang="en-US"/>
                        <a:t>OT NULL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to_date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status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1"/>
          <p:cNvSpPr txBox="1">
            <a:spLocks noGrp="1"/>
          </p:cNvSpPr>
          <p:nvPr>
            <p:ph type="title"/>
          </p:nvPr>
        </p:nvSpPr>
        <p:spPr>
          <a:xfrm>
            <a:off x="848675" y="-1651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EVENT BOOKING TABLE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6" name="Google Shape;286;p71"/>
          <p:cNvGraphicFramePr/>
          <p:nvPr/>
        </p:nvGraphicFramePr>
        <p:xfrm>
          <a:off x="1348706" y="111845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{0295A962-1273-4950-9C61-5927FEBD04DF}</a:tableStyleId>
              </a:tblPr>
              <a:tblGrid>
                <a:gridCol w="184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FIELD NAME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DATA TYPE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SIZE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CONSTRAINTS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event_booking_id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INTEGER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PRIMARY KEY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user_id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INTEGER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FOREIGN KEY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event_id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INTEGER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FOREIGN KEY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event_name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VARCHAR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20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FOREIGN KEY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email_id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FOREIGN KEY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date_range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TEXT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slot_details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30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total_price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DECIMAL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(10,2)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reference_image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BLOB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booking_date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DATE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NULL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status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VARCHAR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</a:t>
                      </a:r>
                      <a:endParaRPr/>
                    </a:p>
                  </a:txBody>
                  <a:tcPr marL="91450" marR="91450" marT="45725" marB="45725"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4b0db2efd5_1_7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 </a:t>
            </a:r>
            <a:r>
              <a:rPr lang="en-US" sz="36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/>
          </a:p>
        </p:txBody>
      </p:sp>
      <p:sp>
        <p:nvSpPr>
          <p:cNvPr id="298" name="Google Shape;298;g34b0db2efd5_1_72"/>
          <p:cNvSpPr txBox="1">
            <a:spLocks noGrp="1"/>
          </p:cNvSpPr>
          <p:nvPr>
            <p:ph type="body" idx="1"/>
          </p:nvPr>
        </p:nvSpPr>
        <p:spPr>
          <a:xfrm>
            <a:off x="1038450" y="1949981"/>
            <a:ext cx="7300500" cy="4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▪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Online Payment Gateway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– Add secure payment options for bookings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and rentals.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– Enable instant confirmation of transactions.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▪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Mobile App Integration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– Develop mobile apps for on-the-go access.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– Improve real-time notifications and usability.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b0db2efd5_1_206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 </a:t>
            </a:r>
            <a:r>
              <a:rPr lang="en-US" sz="3600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endParaRPr/>
          </a:p>
        </p:txBody>
      </p:sp>
      <p:sp>
        <p:nvSpPr>
          <p:cNvPr id="304" name="Google Shape;304;g34b0db2efd5_1_206"/>
          <p:cNvSpPr txBox="1">
            <a:spLocks noGrp="1"/>
          </p:cNvSpPr>
          <p:nvPr>
            <p:ph type="body" idx="1"/>
          </p:nvPr>
        </p:nvSpPr>
        <p:spPr>
          <a:xfrm>
            <a:off x="1023950" y="2094981"/>
            <a:ext cx="7300500" cy="4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Offers a user-friendly, web-based solution for managing photography events, bookings, and rentals.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Enhances efficiency by automating workflows for users and administrators.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sz="24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3"/>
          <p:cNvSpPr txBox="1">
            <a:spLocks noGrp="1"/>
          </p:cNvSpPr>
          <p:nvPr>
            <p:ph type="title"/>
          </p:nvPr>
        </p:nvSpPr>
        <p:spPr>
          <a:xfrm>
            <a:off x="1288026" y="1316735"/>
            <a:ext cx="7236542" cy="321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 PANEL SCREENSHOTS</a:t>
            </a:r>
            <a:br>
              <a:rPr lang="en-US">
                <a:solidFill>
                  <a:srgbClr val="2F2FF1"/>
                </a:solidFill>
              </a:rPr>
            </a:br>
            <a:endParaRPr>
              <a:solidFill>
                <a:srgbClr val="2F2FF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4"/>
          <p:cNvSpPr txBox="1">
            <a:spLocks noGrp="1"/>
          </p:cNvSpPr>
          <p:nvPr>
            <p:ph type="title"/>
          </p:nvPr>
        </p:nvSpPr>
        <p:spPr>
          <a:xfrm>
            <a:off x="-702049" y="623300"/>
            <a:ext cx="61260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       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Screenshots:</a:t>
            </a:r>
            <a:endParaRPr sz="3600">
              <a:solidFill>
                <a:srgbClr val="2F2F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Google Shape;315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755" y="1183755"/>
            <a:ext cx="8042788" cy="5118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9252" y="678425"/>
            <a:ext cx="6381136" cy="367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6737" y="4694901"/>
            <a:ext cx="6381136" cy="2408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0373" y="617640"/>
            <a:ext cx="7669161" cy="312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0374" y="4021394"/>
            <a:ext cx="7669160" cy="2723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084" y="1035241"/>
            <a:ext cx="8180439" cy="516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754" y="943897"/>
            <a:ext cx="7934633" cy="5338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574" y="186812"/>
            <a:ext cx="7944465" cy="4117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258" y="4205019"/>
            <a:ext cx="8455742" cy="418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7858" y="540748"/>
            <a:ext cx="7649497" cy="5776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503840"/>
            <a:ext cx="7157884" cy="6086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BF06B3-5368-A016-6776-646625B90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4" y="986589"/>
            <a:ext cx="7511845" cy="488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663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741" y="609599"/>
            <a:ext cx="7885471" cy="5919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4904" y="696247"/>
            <a:ext cx="7718323" cy="545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3226" y="533400"/>
            <a:ext cx="7541342" cy="586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413" y="-259556"/>
            <a:ext cx="7737987" cy="6584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9764" y="533400"/>
            <a:ext cx="7058159" cy="594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7"/>
          <p:cNvSpPr txBox="1">
            <a:spLocks noGrp="1"/>
          </p:cNvSpPr>
          <p:nvPr>
            <p:ph type="title"/>
          </p:nvPr>
        </p:nvSpPr>
        <p:spPr>
          <a:xfrm>
            <a:off x="1288026" y="1316735"/>
            <a:ext cx="7236542" cy="321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PANEL SCREENSHOTS</a:t>
            </a:r>
            <a:b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2F2F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070" y="943897"/>
            <a:ext cx="8101781" cy="5584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0039" y="452285"/>
            <a:ext cx="7000567" cy="3431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0039" y="3249614"/>
            <a:ext cx="7000567" cy="3608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3058" y="282679"/>
            <a:ext cx="7718323" cy="3146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3058" y="3510117"/>
            <a:ext cx="7718323" cy="3146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581" y="1064341"/>
            <a:ext cx="7964129" cy="4454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6684" y="314632"/>
            <a:ext cx="6980904" cy="2949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6684" y="3264310"/>
            <a:ext cx="6980904" cy="321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740" y="993058"/>
            <a:ext cx="7944465" cy="494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399" y="145098"/>
            <a:ext cx="7836310" cy="3283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399" y="3605839"/>
            <a:ext cx="7836310" cy="3107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586" y="530943"/>
            <a:ext cx="8082117" cy="5525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574" y="688258"/>
            <a:ext cx="7855975" cy="555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581" y="747253"/>
            <a:ext cx="8062452" cy="5348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406" y="894735"/>
            <a:ext cx="7757652" cy="534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419" y="570270"/>
            <a:ext cx="8170608" cy="560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00"/>
          <p:cNvSpPr txBox="1">
            <a:spLocks noGrp="1"/>
          </p:cNvSpPr>
          <p:nvPr>
            <p:ph type="title"/>
          </p:nvPr>
        </p:nvSpPr>
        <p:spPr>
          <a:xfrm>
            <a:off x="1288026" y="1316735"/>
            <a:ext cx="7236542" cy="321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</a:pPr>
            <a: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SCREENSHOTS</a:t>
            </a:r>
            <a:br>
              <a:rPr lang="en-US">
                <a:solidFill>
                  <a:srgbClr val="2F2F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2F2F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5239" y="609600"/>
            <a:ext cx="8032956" cy="572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231" y="908170"/>
            <a:ext cx="8032955" cy="252083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02"/>
          <p:cNvSpPr txBox="1"/>
          <p:nvPr/>
        </p:nvSpPr>
        <p:spPr>
          <a:xfrm>
            <a:off x="3765755" y="353961"/>
            <a:ext cx="263504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</a:t>
            </a:r>
            <a:endParaRPr/>
          </a:p>
        </p:txBody>
      </p:sp>
      <p:sp>
        <p:nvSpPr>
          <p:cNvPr id="464" name="Google Shape;464;p102"/>
          <p:cNvSpPr txBox="1"/>
          <p:nvPr/>
        </p:nvSpPr>
        <p:spPr>
          <a:xfrm>
            <a:off x="2403987" y="3538750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endParaRPr/>
          </a:p>
        </p:txBody>
      </p:sp>
      <p:pic>
        <p:nvPicPr>
          <p:cNvPr id="465" name="Google Shape;465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4231" y="3846527"/>
            <a:ext cx="8032955" cy="2834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244" y="776748"/>
            <a:ext cx="8003459" cy="531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04"/>
          <p:cNvSpPr txBox="1"/>
          <p:nvPr/>
        </p:nvSpPr>
        <p:spPr>
          <a:xfrm>
            <a:off x="3623184" y="168067"/>
            <a:ext cx="263504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</a:t>
            </a:r>
            <a:endParaRPr/>
          </a:p>
        </p:txBody>
      </p:sp>
      <p:sp>
        <p:nvSpPr>
          <p:cNvPr id="476" name="Google Shape;476;p104"/>
          <p:cNvSpPr txBox="1"/>
          <p:nvPr/>
        </p:nvSpPr>
        <p:spPr>
          <a:xfrm>
            <a:off x="2403987" y="3538750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endParaRPr/>
          </a:p>
        </p:txBody>
      </p:sp>
      <p:pic>
        <p:nvPicPr>
          <p:cNvPr id="477" name="Google Shape;477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231" y="629732"/>
            <a:ext cx="8032955" cy="2851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1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4231" y="3942544"/>
            <a:ext cx="8032955" cy="266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4"/>
          <p:cNvSpPr txBox="1">
            <a:spLocks noGrp="1"/>
          </p:cNvSpPr>
          <p:nvPr>
            <p:ph type="body" idx="1"/>
          </p:nvPr>
        </p:nvSpPr>
        <p:spPr>
          <a:xfrm>
            <a:off x="899592" y="2708920"/>
            <a:ext cx="7787208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280"/>
              <a:buNone/>
            </a:pPr>
            <a:r>
              <a:rPr lang="en-US" sz="6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</a:t>
            </a:r>
            <a:endParaRPr sz="66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4" name="Google Shape;484;p14" descr="kec2blackborder 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2612"/>
            <a:ext cx="508210" cy="63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1087</Words>
  <Application>Microsoft Office PowerPoint</Application>
  <PresentationFormat>On-screen Show (4:3)</PresentationFormat>
  <Paragraphs>402</Paragraphs>
  <Slides>61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Times New Roman</vt:lpstr>
      <vt:lpstr>Arial</vt:lpstr>
      <vt:lpstr>Noto Sans Symbols</vt:lpstr>
      <vt:lpstr>Calibri</vt:lpstr>
      <vt:lpstr>Book Antiqua</vt:lpstr>
      <vt:lpstr>Century Schoolbook</vt:lpstr>
      <vt:lpstr>Flow</vt:lpstr>
      <vt:lpstr>Flow</vt:lpstr>
      <vt:lpstr>PowerPoint Presentation</vt:lpstr>
      <vt:lpstr>Objective</vt:lpstr>
      <vt:lpstr>  Existing System</vt:lpstr>
      <vt:lpstr>      Proposed System</vt:lpstr>
      <vt:lpstr>  Modules</vt:lpstr>
      <vt:lpstr>  Module Description</vt:lpstr>
      <vt:lpstr>PowerPoint Presentation</vt:lpstr>
      <vt:lpstr>PowerPoint Presentation</vt:lpstr>
      <vt:lpstr>PowerPoint Presentation</vt:lpstr>
      <vt:lpstr>PowerPoint Presentation</vt:lpstr>
      <vt:lpstr>     Technologies Used</vt:lpstr>
      <vt:lpstr>     Data flow diagram for level 0 </vt:lpstr>
      <vt:lpstr>Data flow diagram for level 1</vt:lpstr>
      <vt:lpstr>DFD Level 2(User Management )</vt:lpstr>
      <vt:lpstr>DFD Level 2(Admin Management )</vt:lpstr>
      <vt:lpstr>DFD Level 2(Custom Package Management)</vt:lpstr>
      <vt:lpstr>DFD Level 2(Event Scheduler Management)</vt:lpstr>
      <vt:lpstr>DFD Level 2(Equipment Rental Management)</vt:lpstr>
      <vt:lpstr>  Tables</vt:lpstr>
      <vt:lpstr>                USER TABLE </vt:lpstr>
      <vt:lpstr>                  ADMIN TABLE </vt:lpstr>
      <vt:lpstr>         EVENT TABLE</vt:lpstr>
      <vt:lpstr>                     PRODUCT TABLE</vt:lpstr>
      <vt:lpstr>         PRODUCT BOOKING TABLE</vt:lpstr>
      <vt:lpstr>         EVENT BOOKING TABLE</vt:lpstr>
      <vt:lpstr>     Future Enhancements</vt:lpstr>
      <vt:lpstr>     Conclusion:</vt:lpstr>
      <vt:lpstr>USER  PANEL SCREENSHOTS </vt:lpstr>
      <vt:lpstr>            Screenshots: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ADMIN PANEL SCREENSHOTS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REPORT SCREENSHOTS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Staff</dc:creator>
  <cp:lastModifiedBy>nandhini.info2004@gmail.com</cp:lastModifiedBy>
  <cp:revision>2</cp:revision>
  <dcterms:created xsi:type="dcterms:W3CDTF">2013-12-25T07:56:38Z</dcterms:created>
  <dcterms:modified xsi:type="dcterms:W3CDTF">2025-04-12T11:28:23Z</dcterms:modified>
</cp:coreProperties>
</file>